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3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DBF30-25C6-4B41-8D0F-41905D80229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4162D-FDF8-44AA-8573-FBFE7E12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9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120640"/>
            <a:ext cx="1463040" cy="1463040"/>
          </a:xfrm>
          <a:prstGeom prst="ellipse">
            <a:avLst/>
          </a:prstGeom>
          <a:solidFill>
            <a:srgbClr val="F2A541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PROBLEM &amp; SOLUTION PROPOSAL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</a:t>
            </a:r>
            <a:r>
              <a:rPr lang="en-US" sz="12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TrekLink Operations Platform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11155680" cy="2148840"/>
          </a:xfrm>
          <a:prstGeom prst="roundRect">
            <a:avLst>
              <a:gd name="adj" fmla="val 510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 Đăng Khoa, Team Leader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 Phi Long, Member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Khải Hoàng, Member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Ngọc Long, Member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Bá Tân, Member</a:t>
            </a:r>
          </a:p>
        </p:txBody>
      </p:sp>
      <p:sp>
        <p:nvSpPr>
          <p:cNvPr id="11" name="Shape 9"/>
          <p:cNvSpPr/>
          <p:nvPr/>
        </p:nvSpPr>
        <p:spPr>
          <a:xfrm>
            <a:off x="6263640" y="4160520"/>
            <a:ext cx="0" cy="1783080"/>
          </a:xfrm>
          <a:prstGeom prst="line">
            <a:avLst/>
          </a:prstGeom>
          <a:noFill/>
          <a:ln w="12700">
            <a:solidFill>
              <a:srgbClr val="CADCFC">
                <a:alpha val="70000"/>
              </a:srgbClr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6294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MENTOR(S)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Đặng Ngọc Minh Đức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FA26SE159 · GFA26SE55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3456000"/>
            <a:ext cx="1022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Off-grid trekking safety and operations over a LoRa mesh · Presenter: Đỗ Đăng Khoa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Trekking agencies run multi-day routes through Vietnam's cellular dead zones.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Affected: operators at base, guides in the field, customers on the trail.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2026: our LoRa mesh firmware sends SOS, fall alerts and positions without coverage.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yet carries that data to the people who must act on it.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web system, gateway, targeted firmware work.</a:t>
            </a:r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system, with platform seams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7452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one operations system for one agency.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that, four seams: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field transports plug in (D-007)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 business rule is configuration (D-015)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stock Meshtastic devices and apps keep working (D-019)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staff roles extend as data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Situation &amp;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399032"/>
            <a:ext cx="4448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events are lost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920240"/>
            <a:ext cx="4997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node's queue holds 16 events in RAM and drops the oldest: in an outage the SOS goes first (MQTT.cpp:821).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23444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60236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60236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54596" y="1399032"/>
            <a:ext cx="4448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SOS goes nowhere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60236" y="1920240"/>
            <a:ext cx="4997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SOS raises a local radio alarm. No one is assigned, nothing is recorded.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776472"/>
            <a:ext cx="4448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records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297680"/>
            <a:ext cx="4997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rentals and trips are tracked in no system; coordination is by phone.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361188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60236" y="381304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460236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54596" y="3776472"/>
            <a:ext cx="44485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60236" y="4297680"/>
            <a:ext cx="49971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depends on who notices; no audit trail after an emergency; custody disputed by memory.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Lâm Phi Long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operations system plus gateway that delivers every field event exactly once, turns each SOS into one owned incident, and runs the fleet, rentals and trips.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events: durable priority queues, SOS first, eventId deduplication.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goes nowhere: one incident per episode, alert in 2 s, full audit trail.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records: booking, rental, 7-state device lifecycle, sandbox billing.</a:t>
            </a:r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and boundary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7452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 · NestJS backend · Node.js gateway · MQTT · PostgreSQL · MapLibre on Goong Maps.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mesh-stack rearchitecture, native apps, real payments, route recommendation, localization, hardware certification, multi-tenancy.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39903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Offline-safe sync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92024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arrives exactly once, SOS first after an outage.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23444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50664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550664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45024" y="139903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to incident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192024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episode, one incident: owned, acknowledged, closed, audited.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41208" y="123444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69808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6980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64168" y="139903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69808" y="192024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 of trips, devices and incidents, scoped by role.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315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77647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rental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2976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booking to a provisioned device in the Guide's hands.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361188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50664" y="381304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550664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145024" y="377647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billing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42976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itemized fees, deposit first, sandbox payment.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41208" y="3611880"/>
            <a:ext cx="354482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369808" y="381304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836980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964168" y="3776472"/>
            <a:ext cx="2538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 configuration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369808" y="4297680"/>
            <a:ext cx="3087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fee, threshold and window changeable live.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Trần Khải Hoàng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Their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4114800"/>
        </p:xfrm>
        <a:graphic>
          <a:graphicData uri="http://schemas.openxmlformats.org/drawingml/2006/table">
            <a:tbl>
              <a:tblPr/>
              <a:tblGrid>
                <a:gridCol w="3131271"/>
                <a:gridCol w="8051841"/>
              </a:tblGrid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Functions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Guest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Browse packages · Register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Customer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Book · Pay · Sign agreement · View own history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Operator (Staff)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Confirm bookings · Allocate and provision devices · Check out and in · Inspect · Coordinate incidents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Guide (Staff)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Confirm handover · Start and end trip · Acknowledge incidents · Report from the field · Own trips only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Admin (Staff)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Users and roles · Pricing and parameters · Device catalogue · Audit and health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Device, Gateway, Scheduler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Emit SOS and positions · Buffer and deliver events · Expire holds, flag stale, escalate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Ngọc Long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1: Booking to Rental to Trip Preparation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9751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09751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8646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books a package; one device is held for 10 minutes.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038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1038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927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80355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0355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confirms, seeing device and Guide conflicts first.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1101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990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0418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0418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allocates devices, loads the fleet key, generates the agreement.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164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1164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30538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0481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pay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481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signs; deposit paid; Guide confirms handover and checklist.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2273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12273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05442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move to Rented; the trip is ready to start.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Bá Tân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04000" y="5256000"/>
            <a:ext cx="111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Exception: Two customers take the last device at once: one is told it is no longer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1 swimlane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DIAGRAM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pic>
        <p:nvPicPr>
          <p:cNvPr id="16" name="Picture 15" descr="srs-fi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786" y="1116000"/>
            <a:ext cx="4258427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2: Field Data to Offline Gateway to Cloud Sync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9751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09751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8646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sends SOS, position or telemetry over the LoRa mesh.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038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1038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927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80355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0355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tagged P0 to P3 and queued durably before any send.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1101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990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0418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0418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down: held on the device (Stage B) and at basecamp (Stage C).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164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1164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30538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0481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481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back: strict priority order, SOS first.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2273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12273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05442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keys it by eventId; a replay is a no-op.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04000" y="5256000"/>
            <a:ext cx="111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Exception: The same packet delivered 10 times creates 0 duplicate incidents.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2 swimlane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DIAGRAM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pic>
        <p:nvPicPr>
          <p:cNvPr id="16" name="Picture 15" descr="srs-fig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454" y="1116000"/>
            <a:ext cx="2485090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3: SOS to Incident to Emergency Response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9751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09751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8646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gesture or fall detection triggers the SOS.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038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1038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927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80355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0355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opens one incident per episode, or appends to 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1101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990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0418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0418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and Operators alerted within 2 seconds.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164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1164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30538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0481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481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acknowledgement takes ownership and starts the clock.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2273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12273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05442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Progress, Resolved, Closed: each with actor, time and note.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Trần Khải Hoàng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04000" y="5256000"/>
            <a:ext cx="111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Exception: The SOS text frame is lost: beacon cadence raises a Suspected incident.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3 swimlane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DIAGRAM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pic>
        <p:nvPicPr>
          <p:cNvPr id="16" name="Picture 15" descr="srs-fig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978" y="1116000"/>
            <a:ext cx="5840043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4: Real-Time Trip Monitoring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9751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09751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8646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and telemetry arrive through Main Flow 2.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038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1038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927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80355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0355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updates position, battery and last-seen.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1101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990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0418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0418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only what each role may see.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164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1164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30538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0481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481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shows status, battery, last-seen and incidents.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2273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12273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05442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devices and gateways turn visibly stale.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Ngọc Long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04000" y="5256000"/>
            <a:ext cx="111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Exception: A Guide asks for another Guide's trip and is refused on the server.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4 swimlane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DIAGRAM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pic>
        <p:nvPicPr>
          <p:cNvPr id="16" name="Picture 15" descr="srs-fi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235" y="1116000"/>
            <a:ext cx="5941528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5: Return to Inspection to Billing to Maintenance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SCENARIO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09751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09751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8646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collects every device and ends the trip.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038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1038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927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803550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03550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checks devices in and inspects them.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1101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9907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10418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0418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late and damage fees computed; deposit applied first.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11642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1164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30538" y="2395728"/>
            <a:ext cx="429768" cy="164592"/>
          </a:xfrm>
          <a:prstGeom prst="rightArrow">
            <a:avLst/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04811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04811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paid or refunded in sandbox; rental closes.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2273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12273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05442" y="2898648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705442" y="3383280"/>
            <a:ext cx="19805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back to Available, to Maintenance, or Retired.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Lâm Phi Long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504000" y="5256000"/>
            <a:ext cx="1119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Exception: Payment fails: the rental stays open with the balance visible.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Flow 5 swimlane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DIAGRAM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  <p:pic>
        <p:nvPicPr>
          <p:cNvPr id="16" name="Picture 15" descr="srs-fig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571" y="1116000"/>
            <a:ext cx="4134857" cy="482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stated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Main Flows.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use cases, 112 functional requirements (SRS §2, §3).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with offline queue.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firmware work: on-device queue, fleet channel key.</a:t>
            </a:r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7452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Mesh-stack rearchitecture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payment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recommendation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of the system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certification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know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TARGETS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4114800"/>
        </p:xfrm>
        <a:graphic>
          <a:graphicData uri="http://schemas.openxmlformats.org/drawingml/2006/table">
            <a:tbl>
              <a:tblPr/>
              <a:tblGrid>
                <a:gridCol w="3131271"/>
                <a:gridCol w="8051841"/>
              </a:tblGrid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Gateway to cloud sync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≤ 5 s when the uplink is available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Offline recovery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≥ 99 % delivered after a 30 s to 30 min loss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Duplicate prevention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0 duplicate incidents across a 10× replay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Priority ordering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≥ 99 %: all P0 before any P2 or P3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Incident alert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≤ 2 s from creation to connected clients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API latency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≤ 300 ms at p95, 50 concurrent users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Ngọc Long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MITIGATION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96000" cy="4114800"/>
        </p:xfrm>
        <a:graphic>
          <a:graphicData uri="http://schemas.openxmlformats.org/drawingml/2006/table">
            <a:tbl>
              <a:tblPr/>
              <a:tblGrid>
                <a:gridCol w="5040000"/>
                <a:gridCol w="6156000"/>
              </a:tblGrid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 (impact)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SOS announced by one unacknowledged radio frame (Critical)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Cadence-anomaly detection now; firmware marker on every beacon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Node queue drops the SOS first in an outage (Critical)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On-device durable priority queue, Stage B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Map tiles misrepresenting national sovereignty (Critical)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Goong Maps held in configuration; sovereignty screenshots to file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Few physical devices for radio testing (High)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Simulation supplements, never presented as radio evidence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Ngọc Long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Review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4114800"/>
        </p:xfrm>
        <a:graphic>
          <a:graphicData uri="http://schemas.openxmlformats.org/drawingml/2006/table">
            <a:tbl>
              <a:tblPr/>
              <a:tblGrid>
                <a:gridCol w="3131271"/>
                <a:gridCol w="8051841"/>
              </a:tblGrid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Assessed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Review 1, W4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Problem, scope, requirement baseline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Review 2, W8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Design baseline; MF-01 and MF-02 demonstrated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Faculty Council, W13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Final product, main flows and 85 % of use cases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Submission and defence, W15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</a:rPr>
                        <a:t>Complete package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Nguyễn Ngọc Long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41148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16152" y="365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08592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308592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the committee 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 the five Main Flows are the right scope for the term.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the requirement baseline is clear and verifiable.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Record feedback against an owner and a deadline; we close it with evidence at Review 2.</a:t>
            </a:r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7452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EF3F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60807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Đỗ Đăng Khoa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TrekLink · Capstone Project, Review 1 · GFA26SE55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Custom</PresentationFormat>
  <Paragraphs>142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2026-09-20T09:03:47Z</dcterms:created>
  <dcterms:modified xsi:type="dcterms:W3CDTF">2026-09-20T10:09:29Z</dcterms:modified>
</cp:coreProperties>
</file>